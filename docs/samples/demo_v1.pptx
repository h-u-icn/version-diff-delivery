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0"/>
            <a:ext cx="4069080" cy="6858000"/>
          </a:xfrm>
          <a:prstGeom prst="rect">
            <a:avLst/>
          </a:prstGeom>
          <a:solidFill>
            <a:srgbClr val="9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01583" y="0"/>
            <a:ext cx="45720" cy="6858000"/>
          </a:xfrm>
          <a:prstGeom prst="rect">
            <a:avLst/>
          </a:prstGeom>
          <a:solidFill>
            <a:srgbClr val="FDF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6949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icrosoft YaHei"/>
              </a:rPr>
              <a:t>版本对比交付 Skill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7180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9D4E0"/>
                </a:solidFill>
                <a:latin typeface="Microsoft YaHei"/>
              </a:rPr>
              <a:t>改文件 · 留原版 · 出对比图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977639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E9EB0"/>
                </a:solidFill>
                <a:latin typeface="Microsoft YaHei"/>
              </a:rPr>
              <a:t>MiniMax Code / Mavis  ·  version-diff-delivery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9E2A25"/>
                </a:solidFill>
                <a:latin typeface="Microsoft YaHei"/>
              </a:rPr>
              <a:t>目录 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B2A3A"/>
                </a:solidFill>
                <a:latin typeface="Microsoft YaHei"/>
              </a:rPr>
              <a:t>它到底解决什么问题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929384"/>
            <a:ext cx="201168" cy="201168"/>
          </a:xfrm>
          <a:prstGeom prst="rect">
            <a:avLst/>
          </a:prstGeom>
          <a:solidFill>
            <a:srgbClr val="9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837943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A3A3A"/>
                </a:solidFill>
                <a:latin typeface="Microsoft YaHei"/>
              </a:rPr>
              <a:t>保留原版，改动另存 _V1 / _V2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587751"/>
            <a:ext cx="201168" cy="201168"/>
          </a:xfrm>
          <a:prstGeom prst="rect">
            <a:avLst/>
          </a:prstGeom>
          <a:solidFill>
            <a:srgbClr val="9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496311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A3A3A"/>
                </a:solidFill>
                <a:latin typeface="Microsoft YaHei"/>
              </a:rPr>
              <a:t>代码改动 → 左右并排 diff 图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246120"/>
            <a:ext cx="201168" cy="201168"/>
          </a:xfrm>
          <a:prstGeom prst="rect">
            <a:avLst/>
          </a:prstGeom>
          <a:solidFill>
            <a:srgbClr val="9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3154679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A3A3A"/>
                </a:solidFill>
                <a:latin typeface="Microsoft YaHei"/>
              </a:rPr>
              <a:t>图片改动 → 并排图 + 变更区域框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04487"/>
            <a:ext cx="201168" cy="201168"/>
          </a:xfrm>
          <a:prstGeom prst="rect">
            <a:avLst/>
          </a:prstGeom>
          <a:solidFill>
            <a:srgbClr val="9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381304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A3A3A"/>
                </a:solidFill>
                <a:latin typeface="Microsoft YaHei"/>
              </a:rPr>
              <a:t>PPT / Word → 整份拼成一张接触印相表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92240" y="1005840"/>
          <a:ext cx="50292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版本</a:t>
                      </a:r>
                    </a:p>
                  </a:txBody>
                  <a:tcPr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改动内容</a:t>
                      </a:r>
                    </a:p>
                  </a:txBody>
                  <a:tcPr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交付形态</a:t>
                      </a:r>
                    </a:p>
                  </a:txBody>
                  <a:tcPr>
                    <a:solidFill>
                      <a:srgbClr val="1B2A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A3A3A"/>
                          </a:solidFill>
                          <a:latin typeface="Microsoft YaHei"/>
                        </a:rPr>
                        <a:t>V0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A3A3A"/>
                          </a:solidFill>
                          <a:latin typeface="Microsoft YaHei"/>
                        </a:rPr>
                        <a:t>原始文件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A3A3A"/>
                          </a:solidFill>
                          <a:latin typeface="Microsoft YaHei"/>
                        </a:rPr>
                        <a:t>不覆盖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A3A3A"/>
                          </a:solidFill>
                          <a:latin typeface="Microsoft YaHei"/>
                        </a:rPr>
                        <a:t>V1</a:t>
                      </a:r>
                    </a:p>
                  </a:txBody>
                  <a:tcPr>
                    <a:solidFill>
                      <a:srgbClr val="F2EC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A3A3A"/>
                          </a:solidFill>
                          <a:latin typeface="Microsoft YaHei"/>
                        </a:rPr>
                        <a:t>标题文案</a:t>
                      </a:r>
                    </a:p>
                  </a:txBody>
                  <a:tcPr>
                    <a:solidFill>
                      <a:srgbClr val="F2EC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A3A3A"/>
                          </a:solidFill>
                          <a:latin typeface="Microsoft YaHei"/>
                        </a:rPr>
                        <a:t>并排 diff 图</a:t>
                      </a:r>
                    </a:p>
                  </a:txBody>
                  <a:tcPr>
                    <a:solidFill>
                      <a:srgbClr val="F2ECD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A3A3A"/>
                          </a:solidFill>
                          <a:latin typeface="Microsoft YaHei"/>
                        </a:rPr>
                        <a:t>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A3A3A"/>
                          </a:solidFill>
                          <a:latin typeface="Microsoft YaHei"/>
                        </a:rPr>
                        <a:t>新增常量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A3A3A"/>
                          </a:solidFill>
                          <a:latin typeface="Microsoft YaHei"/>
                        </a:rPr>
                        <a:t>并排 diff 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A3A3A"/>
                          </a:solidFill>
                          <a:latin typeface="Microsoft YaHei"/>
                        </a:rPr>
                        <a:t>V3</a:t>
                      </a:r>
                    </a:p>
                  </a:txBody>
                  <a:tcPr>
                    <a:solidFill>
                      <a:srgbClr val="F2EC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A3A3A"/>
                          </a:solidFill>
                          <a:latin typeface="Microsoft YaHei"/>
                        </a:rPr>
                        <a:t>图片换色</a:t>
                      </a:r>
                    </a:p>
                  </a:txBody>
                  <a:tcPr>
                    <a:solidFill>
                      <a:srgbClr val="F2EC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A3A3A"/>
                          </a:solidFill>
                          <a:latin typeface="Microsoft YaHei"/>
                        </a:rPr>
                        <a:t>橙框标注图</a:t>
                      </a:r>
                    </a:p>
                  </a:txBody>
                  <a:tcPr>
                    <a:solidFill>
                      <a:srgbClr val="F2ECD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9E2A25"/>
                </a:solidFill>
                <a:latin typeface="Microsoft YaHei"/>
              </a:rPr>
              <a:t>演进 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B2A3A"/>
                </a:solidFill>
                <a:latin typeface="Microsoft YaHei"/>
              </a:rPr>
              <a:t>每轮迭代都留痕，都可回看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063240"/>
            <a:ext cx="10424160" cy="54864"/>
          </a:xfrm>
          <a:prstGeom prst="rect">
            <a:avLst/>
          </a:prstGeom>
          <a:solidFill>
            <a:srgbClr val="9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871216"/>
            <a:ext cx="384048" cy="384048"/>
          </a:xfrm>
          <a:prstGeom prst="ellipse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22402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9E2A25"/>
                </a:solidFill>
                <a:latin typeface="Microsoft YaHei"/>
              </a:rPr>
              <a:t>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59" y="35204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A3A3A"/>
                </a:solidFill>
                <a:latin typeface="Microsoft YaHei"/>
              </a:rPr>
              <a:t>第一版流程</a:t>
            </a:r>
          </a:p>
        </p:txBody>
      </p:sp>
      <p:sp>
        <p:nvSpPr>
          <p:cNvPr id="9" name="Oval 8"/>
          <p:cNvSpPr/>
          <p:nvPr/>
        </p:nvSpPr>
        <p:spPr>
          <a:xfrm>
            <a:off x="3200400" y="2871216"/>
            <a:ext cx="384048" cy="384048"/>
          </a:xfrm>
          <a:prstGeom prst="ellipse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22402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9E2A25"/>
                </a:solidFill>
                <a:latin typeface="Microsoft YaHei"/>
              </a:rPr>
              <a:t>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5204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A3A3A"/>
                </a:solidFill>
                <a:latin typeface="Microsoft YaHei"/>
              </a:rPr>
              <a:t>补图例</a:t>
            </a:r>
          </a:p>
        </p:txBody>
      </p:sp>
      <p:sp>
        <p:nvSpPr>
          <p:cNvPr id="12" name="Oval 11"/>
          <p:cNvSpPr/>
          <p:nvPr/>
        </p:nvSpPr>
        <p:spPr>
          <a:xfrm>
            <a:off x="5349240" y="2871216"/>
            <a:ext cx="384048" cy="384048"/>
          </a:xfrm>
          <a:prstGeom prst="ellipse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22402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9E2A25"/>
                </a:solidFill>
                <a:latin typeface="Microsoft YaHei"/>
              </a:rPr>
              <a:t>2026 Q1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35204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A3A3A"/>
                </a:solidFill>
                <a:latin typeface="Microsoft YaHei"/>
              </a:rPr>
              <a:t>加 PPT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0" y="2871216"/>
            <a:ext cx="384048" cy="384048"/>
          </a:xfrm>
          <a:prstGeom prst="ellipse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78040" y="22402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9E2A25"/>
                </a:solidFill>
                <a:latin typeface="Microsoft YaHei"/>
              </a:rPr>
              <a:t>2026 Q2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5204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A3A3A"/>
                </a:solidFill>
                <a:latin typeface="Microsoft YaHei"/>
              </a:rPr>
              <a:t>加 Word</a:t>
            </a:r>
          </a:p>
        </p:txBody>
      </p:sp>
      <p:sp>
        <p:nvSpPr>
          <p:cNvPr id="18" name="Oval 17"/>
          <p:cNvSpPr/>
          <p:nvPr/>
        </p:nvSpPr>
        <p:spPr>
          <a:xfrm>
            <a:off x="9646920" y="2871216"/>
            <a:ext cx="384048" cy="384048"/>
          </a:xfrm>
          <a:prstGeom prst="ellipse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22402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9E2A25"/>
                </a:solidFill>
                <a:latin typeface="Microsoft YaHei"/>
              </a:rPr>
              <a:t>现在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35204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A3A3A"/>
                </a:solidFill>
                <a:latin typeface="Microsoft YaHei"/>
              </a:rPr>
              <a:t>公开可用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9E2A25"/>
                </a:solidFill>
                <a:latin typeface="Microsoft YaHei"/>
              </a:rPr>
              <a:t>机制 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B2A3A"/>
                </a:solidFill>
                <a:latin typeface="Microsoft YaHei"/>
              </a:rPr>
              <a:t>三步走完一版迭代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20240"/>
            <a:ext cx="5394960" cy="3291840"/>
          </a:xfrm>
          <a:prstGeom prst="rect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55080" y="1920240"/>
            <a:ext cx="53949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331720"/>
            <a:ext cx="274320" cy="274320"/>
          </a:xfrm>
          <a:prstGeom prst="ellipse">
            <a:avLst/>
          </a:prstGeom>
          <a:solidFill>
            <a:srgbClr val="9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228600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icrosoft YaHei"/>
              </a:rPr>
              <a:t>查基线：脚本判定，不手算版本号</a:t>
            </a:r>
          </a:p>
        </p:txBody>
      </p:sp>
      <p:sp>
        <p:nvSpPr>
          <p:cNvPr id="9" name="Oval 8"/>
          <p:cNvSpPr/>
          <p:nvPr/>
        </p:nvSpPr>
        <p:spPr>
          <a:xfrm>
            <a:off x="960120" y="3200400"/>
            <a:ext cx="274320" cy="274320"/>
          </a:xfrm>
          <a:prstGeom prst="ellipse">
            <a:avLst/>
          </a:prstGeom>
          <a:solidFill>
            <a:srgbClr val="9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315468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icrosoft YaHei"/>
              </a:rPr>
              <a:t>开新版本：原版字节不动</a:t>
            </a:r>
          </a:p>
        </p:txBody>
      </p:sp>
      <p:sp>
        <p:nvSpPr>
          <p:cNvPr id="11" name="Oval 10"/>
          <p:cNvSpPr/>
          <p:nvPr/>
        </p:nvSpPr>
        <p:spPr>
          <a:xfrm>
            <a:off x="960120" y="4069079"/>
            <a:ext cx="274320" cy="274320"/>
          </a:xfrm>
          <a:prstGeom prst="ellipse">
            <a:avLst/>
          </a:prstGeom>
          <a:solidFill>
            <a:srgbClr val="9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20" y="40233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icrosoft YaHei"/>
              </a:rPr>
              <a:t>渲染对比：图 + 汇总表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3317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A3A3A"/>
                </a:solidFill>
                <a:latin typeface="Microsoft YaHei"/>
              </a:rPr>
              <a:t>· 原版永远保留在原处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2004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A3A3A"/>
                </a:solidFill>
                <a:latin typeface="Microsoft YaHei"/>
              </a:rPr>
              <a:t>· 新版命名 _V1 / _V2 递增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4069079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A3A3A"/>
                </a:solidFill>
                <a:latin typeface="Microsoft YaHei"/>
              </a:rPr>
              <a:t>· 对比图进 .mavis-compare/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emo_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0"/>
            <a:ext cx="48768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371600"/>
            <a:ext cx="6035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9E2A25"/>
                </a:solidFill>
                <a:latin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43200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效果一览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566160"/>
            <a:ext cx="6217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9D4E0"/>
                </a:solidFill>
                <a:latin typeface="Microsoft YaHei"/>
              </a:rPr>
              <a:t>演示页：图与文同屏
用于验证图文混排页的还原度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9E2A25"/>
                </a:solidFill>
                <a:latin typeface="Microsoft YaHei"/>
              </a:rPr>
              <a:t>小结 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YaHei"/>
              </a:rPr>
              <a:t>四件被记住的事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48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9E2A25"/>
                </a:solidFill>
                <a:latin typeface="Microsoft YaHei"/>
              </a:rPr>
              <a:t>原版不动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21945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9D4E0"/>
                </a:solidFill>
                <a:latin typeface="Microsoft YaHei"/>
              </a:rPr>
              <a:t>V0 永远是原始状态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175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9E2A25"/>
                </a:solidFill>
                <a:latin typeface="Microsoft YaHei"/>
              </a:rPr>
              <a:t>版本递增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3063239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9D4E0"/>
                </a:solidFill>
                <a:latin typeface="Microsoft YaHei"/>
              </a:rPr>
              <a:t>_V1 / _V2 不覆盖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86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9E2A25"/>
                </a:solidFill>
                <a:latin typeface="Microsoft YaHei"/>
              </a:rPr>
              <a:t>图先于话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9319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9D4E0"/>
                </a:solidFill>
                <a:latin typeface="Microsoft YaHei"/>
              </a:rPr>
              <a:t>对比图 + 汇总表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75487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9E2A25"/>
                </a:solidFill>
                <a:latin typeface="Microsoft YaHei"/>
              </a:rPr>
              <a:t>可复核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800599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9D4E0"/>
                </a:solidFill>
                <a:latin typeface="Microsoft YaHei"/>
              </a:rPr>
              <a:t>哈希与页码随交付给出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